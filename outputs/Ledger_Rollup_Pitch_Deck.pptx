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PROJECT LEDGER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0" i="0">
                <a:solidFill>
                  <a:srgbClr val="FF6B35"/>
                </a:solidFill>
                <a:latin typeface="Calibri"/>
              </a:rPr>
              <a:t>AI-Enabled SMB Accounting Roll-Up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1">
                <a:solidFill>
                  <a:srgbClr val="FFFFFF"/>
                </a:solidFill>
                <a:latin typeface="Calibri"/>
              </a:rPr>
              <a:t>A Visma-style buy-and-build platform for Poland, Italy and Cyprus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Investor Presentation  ·  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7220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Founder package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A €7M-raised buy-and-build that returns 5.5–7.0× MoIC by FY30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11430000" cy="15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6567" y="1463040"/>
            <a:ext cx="36576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3727" y="15544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Calibri"/>
              </a:rPr>
              <a:t>TAM — fragmentation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3727" y="19202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6B35"/>
                </a:solidFill>
                <a:latin typeface="Calibri"/>
              </a:rPr>
              <a:t>11K+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" y="2651760"/>
            <a:ext cx="3383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11,000+ sub-€2M accounting practices across PL/IT/CY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Majority owner-led, retirement-driven sellers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Visma absent below €5M ticket — pure whitespace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EUR 1.5B+ aggregated revenue in target universe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67047" y="1463040"/>
            <a:ext cx="36576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4207" y="15544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Calibri"/>
              </a:rPr>
              <a:t>Mandate cliff — KSeF Feb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4207" y="19202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C0392B"/>
                </a:solidFill>
                <a:latin typeface="Calibri"/>
              </a:rPr>
              <a:t>Feb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4207" y="2651760"/>
            <a:ext cx="3383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Poland mandatory e-invoicing Feb 2026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Italy SdI universal since 2019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EU ViDA forces full digital by 2030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Sellers cannot fund the upgrade alone — forced exit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7527" y="1463040"/>
            <a:ext cx="36576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4687" y="15544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Calibri"/>
              </a:rPr>
              <a:t>AI overlay — margin re-rate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4687" y="19202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E8B57"/>
                </a:solidFill>
                <a:latin typeface="Calibri"/>
              </a:rPr>
              <a:t>10×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4687" y="2651760"/>
            <a:ext cx="3383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OCR + classification + bank-feed automation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60–70% labor hour compression in 12 months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EBITDA margin 19% → 27–30% post-integration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Re-rates entry 4× to exit 10× EBITDA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440680"/>
            <a:ext cx="11430000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532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€250k SAFE today  →  €750k seed extension Day 90  →  €6M Series A Month 9  →  exit at €100M EV in FY30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Project Ledger — AI Accounting Roll-Up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Two engines, one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M&amp;A roll-up combined with AI-overlay product layer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11430000" cy="15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1430000" cy="640080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Combined platform FY30 targets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50876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300" b="1" i="0">
                <a:solidFill>
                  <a:srgbClr val="FF6B35"/>
                </a:solidFill>
                <a:latin typeface="Calibri"/>
              </a:rPr>
              <a:t>€33M revenue   ·   €11M EBITDA   ·   14 practices   ·   3 countries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40280"/>
            <a:ext cx="5638647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53643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Calibri"/>
              </a:rPr>
              <a:t>ENGINE 1 — Buy (M&amp;A roll-up)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53643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5F"/>
                </a:solidFill>
                <a:latin typeface="Calibri"/>
              </a:rPr>
              <a:t>4.0×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429000"/>
            <a:ext cx="5364327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Acquire €1–5M revenue practices at 3.5–4.5× LTM EBITDA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80% cash / 20% earnout, 12–24 month seller stay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Target screen: ≥15% margin, ≥80% recurring, &lt;10% concentration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Visma-style light-touch integration — preserve brand 24 months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7287" y="2240280"/>
            <a:ext cx="5638647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4447" y="2331720"/>
            <a:ext cx="53643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6B35"/>
                </a:solidFill>
                <a:latin typeface="Calibri"/>
              </a:rPr>
              <a:t>ENGINE 2 — Build (AI overlay)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2697480"/>
            <a:ext cx="53643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6B35"/>
                </a:solidFill>
                <a:latin typeface="Calibri"/>
              </a:rPr>
              <a:t>-35%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3429000"/>
            <a:ext cx="5364327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OCR + Document Intelligence on inbound invoices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GPT-4o classification + auto-reconciliation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Native KSeF + SdI submission rails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Anomaly flags + advisor-grade dashboards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349240"/>
            <a:ext cx="11430000" cy="914400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440680"/>
            <a:ext cx="26746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Practices acquired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715000"/>
            <a:ext cx="26746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14 by FY30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4700" y="5440680"/>
            <a:ext cx="26746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EBITDA margin uplift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4700" y="5715000"/>
            <a:ext cx="26746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19% → 30%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5440680"/>
            <a:ext cx="26746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AI hours compressed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5715000"/>
            <a:ext cx="26746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60–70%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9700" y="5440680"/>
            <a:ext cx="26746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Exit multiple expansion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9700" y="5715000"/>
            <a:ext cx="26746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4× → 10×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Project Ledger — AI Accounting Roll-Up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The two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Sumer.io = product wedge.   Visma = roll-up playbook AND exit buyer.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11430000" cy="15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57784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SUMER.IO — the AI-accounting wedge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(Spain category reference — Holded, Anfix, Quipu, Sumer)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2316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Buyer: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2316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01010"/>
                </a:solidFill>
                <a:latin typeface="Calibri"/>
              </a:rPr>
              <a:t>Spanish self-employed and micro-SMB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1576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Price point: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715768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01010"/>
                </a:solidFill>
                <a:latin typeface="Calibri"/>
              </a:rPr>
              <a:t>€20–80 per seat per 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08376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Wedge: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008376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01010"/>
                </a:solidFill>
                <a:latin typeface="Calibri"/>
              </a:rPr>
              <a:t>OCR → classification → VAT return → tax filing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00984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Automation: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01010"/>
                </a:solidFill>
                <a:latin typeface="Calibri"/>
              </a:rPr>
              <a:t>70–85% on routine entries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93592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Onboarding: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593592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01010"/>
                </a:solidFill>
                <a:latin typeface="Calibri"/>
              </a:rPr>
              <a:t>15 minutes via bank feed + email forwarding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88620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Validation: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88620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01010"/>
                </a:solidFill>
                <a:latin typeface="Calibri"/>
              </a:rPr>
              <a:t>Holded acquired by Visma in 2021 (~€120M EV)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349240"/>
            <a:ext cx="5212080" cy="7315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394960"/>
            <a:ext cx="4846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FF6B35"/>
                </a:solidFill>
                <a:latin typeface="Calibri"/>
              </a:rPr>
              <a:t>Why it matters for Ledger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71500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101010"/>
                </a:solidFill>
                <a:latin typeface="Calibri"/>
              </a:rPr>
              <a:t>We don't build Sumer. We acquire the labor base, layer Sumer-class automation on top.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1417320"/>
            <a:ext cx="557784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VISMA — the M&amp;A blueprint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011680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(Norwegian roll-up backed by Hg, KKR, GIC, ICG, Warburg)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2316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Revenue: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2423160"/>
            <a:ext cx="3931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01010"/>
                </a:solidFill>
                <a:latin typeface="Calibri"/>
              </a:rPr>
              <a:t>€2.5B+ (~15K employees, ~30% EBITDA margin)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71576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Deals: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715768"/>
            <a:ext cx="3931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01010"/>
                </a:solidFill>
                <a:latin typeface="Calibri"/>
              </a:rPr>
              <a:t>&gt;300 acquisitions since 2006, 30–40 per year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008376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Entry multiple: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3008376"/>
            <a:ext cx="3931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01010"/>
                </a:solidFill>
                <a:latin typeface="Calibri"/>
              </a:rPr>
              <a:t>8–12× EBITDA (€5M+ revenue threshold)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300984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Exit re-rate: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3300984"/>
            <a:ext cx="3931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01010"/>
                </a:solidFill>
                <a:latin typeface="Calibri"/>
              </a:rPr>
              <a:t>14–18× EBITDA (post-platform migration)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593592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Recent moves: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3593592"/>
            <a:ext cx="3931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01010"/>
                </a:solidFill>
                <a:latin typeface="Calibri"/>
              </a:rPr>
              <a:t>Holded (ES 2021)  ·  Fiscozen (IT 2024)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88620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Our angle: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3886200"/>
            <a:ext cx="3931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01010"/>
                </a:solidFill>
                <a:latin typeface="Calibri"/>
              </a:rPr>
              <a:t>They are our exit buyer AND our pricing umbrella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349240"/>
            <a:ext cx="5212080" cy="7315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5394960"/>
            <a:ext cx="4846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Why it matters for Ledger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571500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101010"/>
                </a:solidFill>
                <a:latin typeface="Calibri"/>
              </a:rPr>
              <a:t>Visma will not bid below €5M revenue. That is the whitespace we own for 24–36 months.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Project Ledger — AI Accounting Roll-Up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Market selection — PL first, CY for structure, IT for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Sequencing follows entry economics and regulatory urgency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11430000" cy="15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2926080" cy="4572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  Criterion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1463040"/>
            <a:ext cx="2834640" cy="4572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  Poland (1st)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463040"/>
            <a:ext cx="2834640" cy="4572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  Cyprus (2nd)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0" y="1463040"/>
            <a:ext cx="2834640" cy="4572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  Italy (3rd)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20240"/>
            <a:ext cx="2926080" cy="502920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1F3A5F"/>
                </a:solidFill>
                <a:latin typeface="Calibri"/>
              </a:rPr>
              <a:t>  Practices in target band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920240"/>
            <a:ext cx="2834640" cy="502920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01010"/>
                </a:solidFill>
                <a:latin typeface="Calibri"/>
              </a:rPr>
              <a:t>  8,500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920240"/>
            <a:ext cx="2834640" cy="502920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01010"/>
                </a:solidFill>
                <a:latin typeface="Calibri"/>
              </a:rPr>
              <a:t>  250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0" y="1920240"/>
            <a:ext cx="2834640" cy="502920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01010"/>
                </a:solidFill>
                <a:latin typeface="Calibri"/>
              </a:rPr>
              <a:t>  2,800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2926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1F3A5F"/>
                </a:solidFill>
                <a:latin typeface="Calibri"/>
              </a:rPr>
              <a:t>  Avg margin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2423160"/>
            <a:ext cx="28346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01010"/>
                </a:solidFill>
                <a:latin typeface="Calibri"/>
              </a:rPr>
              <a:t>  18–22%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2423160"/>
            <a:ext cx="28346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01010"/>
                </a:solidFill>
                <a:latin typeface="Calibri"/>
              </a:rPr>
              <a:t>  20–25%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2423160"/>
            <a:ext cx="28346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01010"/>
                </a:solidFill>
                <a:latin typeface="Calibri"/>
              </a:rPr>
              <a:t>  15–18%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26080"/>
            <a:ext cx="2926080" cy="502920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1F3A5F"/>
                </a:solidFill>
                <a:latin typeface="Calibri"/>
              </a:rPr>
              <a:t>  Entry multiple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2926080"/>
            <a:ext cx="2834640" cy="502920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01010"/>
                </a:solidFill>
                <a:latin typeface="Calibri"/>
              </a:rPr>
              <a:t>  3.5–4.0×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2926080"/>
            <a:ext cx="2834640" cy="502920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01010"/>
                </a:solidFill>
                <a:latin typeface="Calibri"/>
              </a:rPr>
              <a:t>  4.5–5.5×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2926080"/>
            <a:ext cx="2834640" cy="502920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01010"/>
                </a:solidFill>
                <a:latin typeface="Calibri"/>
              </a:rPr>
              <a:t>  5.0–6.0×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429000"/>
            <a:ext cx="2926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1F3A5F"/>
                </a:solidFill>
                <a:latin typeface="Calibri"/>
              </a:rPr>
              <a:t>  E-invoice mandate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0" y="3429000"/>
            <a:ext cx="28346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01010"/>
                </a:solidFill>
                <a:latin typeface="Calibri"/>
              </a:rPr>
              <a:t>  KSeF Feb 2026 (cliff)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3429000"/>
            <a:ext cx="28346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01010"/>
                </a:solidFill>
                <a:latin typeface="Calibri"/>
              </a:rPr>
              <a:t>  EU ViDA 2030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61120" y="3429000"/>
            <a:ext cx="28346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01010"/>
                </a:solidFill>
                <a:latin typeface="Calibri"/>
              </a:rPr>
              <a:t>  SdI since 2019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931920"/>
            <a:ext cx="2926080" cy="502920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1F3A5F"/>
                </a:solidFill>
                <a:latin typeface="Calibri"/>
              </a:rPr>
              <a:t>  Visma presence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0" y="3931920"/>
            <a:ext cx="2834640" cy="502920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01010"/>
                </a:solidFill>
                <a:latin typeface="Calibri"/>
              </a:rPr>
              <a:t>  Light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3931920"/>
            <a:ext cx="2834640" cy="502920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01010"/>
                </a:solidFill>
                <a:latin typeface="Calibri"/>
              </a:rPr>
              <a:t>  None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1120" y="3931920"/>
            <a:ext cx="2834640" cy="502920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01010"/>
                </a:solidFill>
                <a:latin typeface="Calibri"/>
              </a:rPr>
              <a:t>  Yes (Fiscozen)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434840"/>
            <a:ext cx="2926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1F3A5F"/>
                </a:solidFill>
                <a:latin typeface="Calibri"/>
              </a:rPr>
              <a:t>  Ledger strategic role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91840" y="4434840"/>
            <a:ext cx="28346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101010"/>
                </a:solidFill>
                <a:latin typeface="Calibri"/>
              </a:rPr>
              <a:t>  Beachhead — first 2 deals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4434840"/>
            <a:ext cx="28346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101010"/>
                </a:solidFill>
                <a:latin typeface="Calibri"/>
              </a:rPr>
              <a:t>  Holdco + IP structure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61120" y="4434840"/>
            <a:ext cx="28346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101010"/>
                </a:solidFill>
                <a:latin typeface="Calibri"/>
              </a:rPr>
              <a:t>  Scale geography Y2+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98932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Sequencing rationale: KSeF Feb 2026 forces Polish sellers; Cyprus low-cost toehold + holdco; Italy deferred past €5M deployment to avoid Visma price competition.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Project Ledger — AI Accounting Roll-Up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AI overlay opportunity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Four value pools where AI compresses cost-to-serve in an acquired practice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11430000" cy="15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5778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3749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INVOICE INTAKE &amp; OCR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55448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800" b="1" i="0">
                <a:solidFill>
                  <a:srgbClr val="2E8B57"/>
                </a:solidFill>
                <a:latin typeface="Calibri"/>
              </a:rPr>
              <a:t>−65% hrs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5212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2E8B57"/>
                </a:solidFill>
                <a:latin typeface="Calibri"/>
              </a:rPr>
              <a:t>Easy  ·  Highest hour-compression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Azure Document Intelligence on inbound invoices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Bank-feed aggregation via TrueLayer / Tink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90-day deploy per practice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417320"/>
            <a:ext cx="55778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54480"/>
            <a:ext cx="3749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AUTO-CATEGORIZATION &amp; RECONCILIATION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55448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800" b="1" i="0">
                <a:solidFill>
                  <a:srgbClr val="FF6B35"/>
                </a:solidFill>
                <a:latin typeface="Calibri"/>
              </a:rPr>
              <a:t>+8 pp margin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965960"/>
            <a:ext cx="5212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FF6B35"/>
                </a:solidFill>
                <a:latin typeface="Calibri"/>
              </a:rPr>
              <a:t>Medium  ·  Core margin driver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33172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GPT-4o classification fine-tuned on local CoA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Auto-match invoices to bank entries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Junior bookkeeper hours redeployed to advisory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931920"/>
            <a:ext cx="55778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069080"/>
            <a:ext cx="3749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REGULATORY SUBMISSION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06908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800" b="1" i="0">
                <a:solidFill>
                  <a:srgbClr val="1F3A5F"/>
                </a:solidFill>
                <a:latin typeface="Calibri"/>
              </a:rPr>
              <a:t>KSeF + SdI native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80560"/>
            <a:ext cx="5212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1F3A5F"/>
                </a:solidFill>
                <a:latin typeface="Calibri"/>
              </a:rPr>
              <a:t>Hard  ·  Defensive moat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4632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Native KSeF (PL) + SdI (IT) e-invoice rails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Auto-VAT / IRPF / CIT draft filings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Country-specific compliance handled at platform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3931920"/>
            <a:ext cx="55778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069080"/>
            <a:ext cx="3749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ADVISORY DASHBOARDS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406908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800" b="1" i="0">
                <a:solidFill>
                  <a:srgbClr val="00A8A8"/>
                </a:solidFill>
                <a:latin typeface="Calibri"/>
              </a:rPr>
              <a:t>+10% ARPU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480560"/>
            <a:ext cx="5212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00A8A8"/>
                </a:solidFill>
                <a:latin typeface="Calibri"/>
              </a:rPr>
              <a:t>Medium  ·  Pricing uplift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84632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Cash-flow + working-capital dashboards for client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Anomaly flags shipped weekly to client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• Premium tier — €40–80/mo upsell over base service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6263640"/>
            <a:ext cx="11430000" cy="29260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2910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Net effect: 19% acquired-EBITDA margin → 27–30% after 12-month integration. Re-rates entry 4× to exit 10× EBITDA.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Project Ledger — AI Accounting Roll-Up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Execution framework — three phases over 36 months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From founding to FY30 exit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11430000" cy="15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0847" y="1554480"/>
            <a:ext cx="36576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847" y="1554480"/>
            <a:ext cx="3657600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3727" y="1645920"/>
            <a:ext cx="32918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1 —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" y="1965960"/>
            <a:ext cx="32918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Calibri"/>
              </a:rPr>
              <a:t>100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0847" y="2331720"/>
            <a:ext cx="3657600" cy="5943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3727" y="2423160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1F3A5F"/>
                </a:solidFill>
                <a:latin typeface="Calibri"/>
              </a:rPr>
              <a:t>€1M raised  ·  1 close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727" y="30632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Cyprus holdco + Poland subsidiary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Founder + €250k SAFE + €750k extension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3 core hires (M&amp;A, Integration, AI)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Polish target pipeline (200 screened)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First LOI signed by D65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LEDGER-1 closed by D85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67047" y="1554480"/>
            <a:ext cx="36576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7047" y="1554480"/>
            <a:ext cx="3657600" cy="7772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9927" y="1645920"/>
            <a:ext cx="32918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2 — Build (Months 4–18)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9927" y="1965960"/>
            <a:ext cx="32918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Calibri"/>
              </a:rPr>
              <a:t>Series A + 5 deals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67047" y="2331720"/>
            <a:ext cx="3657600" cy="5943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49927" y="2423160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6B35"/>
                </a:solidFill>
                <a:latin typeface="Calibri"/>
              </a:rPr>
              <a:t>€7M revenue  ·  6 practices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9927" y="30632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Series A €6M closes month 9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5 acquisitions: 4 PL + 1 CY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AI overlay deployed across each practice (90 days)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Senior debt facility €8M month 12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Italy market opens month 12–15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First Italian acquisition month 16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53247" y="1554480"/>
            <a:ext cx="36576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247" y="1554480"/>
            <a:ext cx="3657600" cy="7772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6127" y="1645920"/>
            <a:ext cx="32918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3 — Scale &amp; Exit (Months 19–60)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1965960"/>
            <a:ext cx="32918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Calibri"/>
              </a:rPr>
              <a:t>Platform + exit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53247" y="2331720"/>
            <a:ext cx="3657600" cy="5943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36127" y="2423160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E8B57"/>
                </a:solidFill>
                <a:latin typeface="Calibri"/>
              </a:rPr>
              <a:t>€33M rev  ·  €100M+ EV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6127" y="30632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Platform migration across book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8 additional acquisitions (PL + IT + CY)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EBITDA margin expansion to 33%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Series B optional (month 30, €15–20M)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Exit conversations begin FY29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Sale to Visma / Hg / EQT @ 10× EBITDA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Project Ledger — AI Accounting Roll-Up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14-deal pipeline, FY26–FY30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Base case — full deal schedule and consolidated economics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11430000" cy="15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371600" cy="29260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Deal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1417320"/>
            <a:ext cx="914400" cy="29260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Country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417320"/>
            <a:ext cx="822960" cy="29260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Year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417320"/>
            <a:ext cx="1005840" cy="29260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Rev (€M)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417320"/>
            <a:ext cx="1188720" cy="29260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EBITDA (€M)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417320"/>
            <a:ext cx="914400" cy="29260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Mult.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09928"/>
            <a:ext cx="13716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101010"/>
                </a:solidFill>
                <a:latin typeface="Calibri"/>
              </a:rPr>
              <a:t>  LEDGER-1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1709928"/>
            <a:ext cx="9144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PL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1760" y="1709928"/>
            <a:ext cx="82296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FY26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1709928"/>
            <a:ext cx="100584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2.5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1709928"/>
            <a:ext cx="118872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0.5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0" y="1709928"/>
            <a:ext cx="9144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3.5×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002536"/>
            <a:ext cx="13716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101010"/>
                </a:solidFill>
                <a:latin typeface="Calibri"/>
              </a:rPr>
              <a:t>  LEDGER-2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37360" y="2002536"/>
            <a:ext cx="9144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PL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2002536"/>
            <a:ext cx="82296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FY26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2002536"/>
            <a:ext cx="100584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1.8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2002536"/>
            <a:ext cx="118872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0.4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2002536"/>
            <a:ext cx="9144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3.5×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295144"/>
            <a:ext cx="13716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101010"/>
                </a:solidFill>
                <a:latin typeface="Calibri"/>
              </a:rPr>
              <a:t>  LEDGER-CY-1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37360" y="2295144"/>
            <a:ext cx="9144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2295144"/>
            <a:ext cx="82296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FY26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0" y="2295144"/>
            <a:ext cx="100584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0.8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2295144"/>
            <a:ext cx="118872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0.2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0" y="2295144"/>
            <a:ext cx="9144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4.0×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587752"/>
            <a:ext cx="13716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101010"/>
                </a:solidFill>
                <a:latin typeface="Calibri"/>
              </a:rPr>
              <a:t>  LEDGER-3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37360" y="2587752"/>
            <a:ext cx="9144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PL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51760" y="2587752"/>
            <a:ext cx="82296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FY27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0" y="2587752"/>
            <a:ext cx="100584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3.2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60" y="2587752"/>
            <a:ext cx="118872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0.7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2587752"/>
            <a:ext cx="9144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4.0×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880360"/>
            <a:ext cx="13716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101010"/>
                </a:solidFill>
                <a:latin typeface="Calibri"/>
              </a:rPr>
              <a:t>  LEDGER-4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37360" y="2880360"/>
            <a:ext cx="9144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PL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51760" y="2880360"/>
            <a:ext cx="82296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FY27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0" y="2880360"/>
            <a:ext cx="100584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2.4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80560" y="2880360"/>
            <a:ext cx="118872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0.5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0" y="2880360"/>
            <a:ext cx="9144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4.0×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172968"/>
            <a:ext cx="13716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101010"/>
                </a:solidFill>
                <a:latin typeface="Calibri"/>
              </a:rPr>
              <a:t>  LEDGER-IT-1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737360" y="3172968"/>
            <a:ext cx="9144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51760" y="3172968"/>
            <a:ext cx="82296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FY27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74720" y="3172968"/>
            <a:ext cx="100584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4.0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60" y="3172968"/>
            <a:ext cx="118872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0.7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0" y="3172968"/>
            <a:ext cx="9144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5.0×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465576"/>
            <a:ext cx="13716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101010"/>
                </a:solidFill>
                <a:latin typeface="Calibri"/>
              </a:rPr>
              <a:t>  LEDGER-5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37360" y="3465576"/>
            <a:ext cx="9144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PL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51760" y="3465576"/>
            <a:ext cx="82296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FY28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74720" y="3465576"/>
            <a:ext cx="100584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3.5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80560" y="3465576"/>
            <a:ext cx="118872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0.8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0" y="3465576"/>
            <a:ext cx="9144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4.0×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758184"/>
            <a:ext cx="13716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101010"/>
                </a:solidFill>
                <a:latin typeface="Calibri"/>
              </a:rPr>
              <a:t>  LEDGER-IT-2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37360" y="3758184"/>
            <a:ext cx="9144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IT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51760" y="3758184"/>
            <a:ext cx="82296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FY28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474720" y="3758184"/>
            <a:ext cx="100584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3.5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480560" y="3758184"/>
            <a:ext cx="118872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0.6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0" y="3758184"/>
            <a:ext cx="9144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5.5×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4050792"/>
            <a:ext cx="13716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101010"/>
                </a:solidFill>
                <a:latin typeface="Calibri"/>
              </a:rPr>
              <a:t>  LEDGER-CY-2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737360" y="4050792"/>
            <a:ext cx="9144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CY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651760" y="4050792"/>
            <a:ext cx="82296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FY28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474720" y="4050792"/>
            <a:ext cx="100584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1.2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80560" y="4050792"/>
            <a:ext cx="118872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0.3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0" y="4050792"/>
            <a:ext cx="9144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4.5×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343400"/>
            <a:ext cx="13716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101010"/>
                </a:solidFill>
                <a:latin typeface="Calibri"/>
              </a:rPr>
              <a:t>  LEDGER-6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737360" y="4343400"/>
            <a:ext cx="9144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PL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651760" y="4343400"/>
            <a:ext cx="82296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FY29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474720" y="4343400"/>
            <a:ext cx="100584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4.0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480560" y="4343400"/>
            <a:ext cx="118872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1.0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0" y="4343400"/>
            <a:ext cx="9144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4.5×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4636008"/>
            <a:ext cx="13716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101010"/>
                </a:solidFill>
                <a:latin typeface="Calibri"/>
              </a:rPr>
              <a:t>  LEDGER-IT-3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737360" y="4636008"/>
            <a:ext cx="9144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IT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651760" y="4636008"/>
            <a:ext cx="82296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FY29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474720" y="4636008"/>
            <a:ext cx="100584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4.5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560" y="4636008"/>
            <a:ext cx="118872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0.9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0" y="4636008"/>
            <a:ext cx="9144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5.5×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928616"/>
            <a:ext cx="13716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101010"/>
                </a:solidFill>
                <a:latin typeface="Calibri"/>
              </a:rPr>
              <a:t>  LEDGER-7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737360" y="4928616"/>
            <a:ext cx="9144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PL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651760" y="4928616"/>
            <a:ext cx="82296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FY30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474720" y="4928616"/>
            <a:ext cx="100584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3.0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480560" y="4928616"/>
            <a:ext cx="118872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0.8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669280" y="4928616"/>
            <a:ext cx="9144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4.5×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65760" y="5221224"/>
            <a:ext cx="13716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101010"/>
                </a:solidFill>
                <a:latin typeface="Calibri"/>
              </a:rPr>
              <a:t>  LEDGER-IT-4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737360" y="5221224"/>
            <a:ext cx="9144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IT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651760" y="5221224"/>
            <a:ext cx="82296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FY30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474720" y="5221224"/>
            <a:ext cx="100584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4.0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480560" y="5221224"/>
            <a:ext cx="118872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0.8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0" y="5221224"/>
            <a:ext cx="914400" cy="292608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6.0×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5513832"/>
            <a:ext cx="13716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101010"/>
                </a:solidFill>
                <a:latin typeface="Calibri"/>
              </a:rPr>
              <a:t>  LEDGER-8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737360" y="5513832"/>
            <a:ext cx="9144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PL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651760" y="5513832"/>
            <a:ext cx="82296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FY30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74720" y="5513832"/>
            <a:ext cx="100584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2.8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80560" y="5513832"/>
            <a:ext cx="118872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0.7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669280" y="5513832"/>
            <a:ext cx="91440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01010"/>
                </a:solidFill>
                <a:latin typeface="Calibri"/>
              </a:rPr>
              <a:t>4.5×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40880" y="1417320"/>
            <a:ext cx="4754880" cy="2377440"/>
          </a:xfrm>
          <a:prstGeom prst="rect">
            <a:avLst/>
          </a:prstGeom>
          <a:solidFill>
            <a:srgbClr val="F4F6F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223760" y="1554480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Consolidated FY30 (Base case)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223760" y="1920240"/>
            <a:ext cx="23774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01010"/>
                </a:solidFill>
                <a:latin typeface="Calibri"/>
              </a:rPr>
              <a:t>Revenue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601200" y="1920240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2E8B57"/>
                </a:solidFill>
                <a:latin typeface="Calibri"/>
              </a:rPr>
              <a:t>€33M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223760" y="2212848"/>
            <a:ext cx="23774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01010"/>
                </a:solidFill>
                <a:latin typeface="Calibri"/>
              </a:rPr>
              <a:t>EBITDA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01200" y="221284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2E8B57"/>
                </a:solidFill>
                <a:latin typeface="Calibri"/>
              </a:rPr>
              <a:t>€11M  (33% margin)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0" y="2505456"/>
            <a:ext cx="23774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01010"/>
                </a:solidFill>
                <a:latin typeface="Calibri"/>
              </a:rPr>
              <a:t>Total deal spend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601200" y="2505456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1F3A5F"/>
                </a:solidFill>
                <a:latin typeface="Calibri"/>
              </a:rPr>
              <a:t>€38M cumulative EV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223760" y="2798064"/>
            <a:ext cx="23774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01010"/>
                </a:solidFill>
                <a:latin typeface="Calibri"/>
              </a:rPr>
              <a:t>Senior debt outstanding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601200" y="2798064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555555"/>
                </a:solidFill>
                <a:latin typeface="Calibri"/>
              </a:rPr>
              <a:t>€18M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090672"/>
            <a:ext cx="23774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01010"/>
                </a:solidFill>
                <a:latin typeface="Calibri"/>
              </a:rPr>
              <a:t>Exit EV @ 10× EBITDA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601200" y="3090672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FF6B35"/>
                </a:solidFill>
                <a:latin typeface="Calibri"/>
              </a:rPr>
              <a:t>€110M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223760" y="3383280"/>
            <a:ext cx="23774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01010"/>
                </a:solidFill>
                <a:latin typeface="Calibri"/>
              </a:rPr>
              <a:t>Equity value at exit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601200" y="3383280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FF6B35"/>
                </a:solidFill>
                <a:latin typeface="Calibri"/>
              </a:rPr>
              <a:t>€92M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040880" y="3977640"/>
            <a:ext cx="4754880" cy="2103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223760" y="4114800"/>
            <a:ext cx="4389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Returns waterfall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223760" y="4526280"/>
            <a:ext cx="23774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CCCCCC"/>
                </a:solidFill>
                <a:latin typeface="Calibri"/>
              </a:rPr>
              <a:t>Total equity raised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601200" y="4526280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alibri"/>
              </a:rPr>
              <a:t>€7.0M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223760" y="4818888"/>
            <a:ext cx="23774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CCCCCC"/>
                </a:solidFill>
                <a:latin typeface="Calibri"/>
              </a:rPr>
              <a:t>Exit equity value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601200" y="481888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alibri"/>
              </a:rPr>
              <a:t>€92M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223760" y="5111496"/>
            <a:ext cx="23774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CCCCCC"/>
                </a:solidFill>
                <a:latin typeface="Calibri"/>
              </a:rPr>
              <a:t>Gross MoIC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601200" y="5111496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200" b="1" i="0">
                <a:solidFill>
                  <a:srgbClr val="FF6B35"/>
                </a:solidFill>
                <a:latin typeface="Calibri"/>
              </a:rPr>
              <a:t>13×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223760" y="5404104"/>
            <a:ext cx="23774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CCCCCC"/>
                </a:solidFill>
                <a:latin typeface="Calibri"/>
              </a:rPr>
              <a:t>Net MoIC to Series 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601200" y="5404104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200" b="1" i="0">
                <a:solidFill>
                  <a:srgbClr val="FF6B35"/>
                </a:solidFill>
                <a:latin typeface="Calibri"/>
              </a:rPr>
              <a:t>5.5×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5696712"/>
            <a:ext cx="23774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CCCCCC"/>
                </a:solidFill>
                <a:latin typeface="Calibri"/>
              </a:rPr>
              <a:t>Series A IRR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601200" y="5696712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200" b="1" i="0">
                <a:solidFill>
                  <a:srgbClr val="FF6B35"/>
                </a:solidFill>
                <a:latin typeface="Calibri"/>
              </a:rPr>
              <a:t>35–40%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Project Ledger — AI Accounting Roll-Up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Top risks and how we mitigate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Eight risks ranked by likelihood × impact, with concrete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11430000" cy="15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278892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73152" cy="12070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2514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Visma enters sub-€5M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20"/>
            <a:ext cx="2514600" cy="7040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101010"/>
                </a:solidFill>
                <a:latin typeface="Calibri"/>
              </a:rPr>
              <a:t>Move fast in PL; differentiate on 90-day AI overlay vs Visma's 24-month platform path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17320"/>
            <a:ext cx="278892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417320"/>
            <a:ext cx="73152" cy="1207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490472"/>
            <a:ext cx="2514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KSeF launch delayed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874520"/>
            <a:ext cx="2514600" cy="7040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101010"/>
                </a:solidFill>
                <a:latin typeface="Calibri"/>
              </a:rPr>
              <a:t>Thesis holds — retirement pressure remains; price compression risk priced 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417320"/>
            <a:ext cx="278892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417320"/>
            <a:ext cx="73152" cy="1207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490472"/>
            <a:ext cx="2514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AI accuracy &lt;70%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874520"/>
            <a:ext cx="2514600" cy="7040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101010"/>
                </a:solidFill>
                <a:latin typeface="Calibri"/>
              </a:rPr>
              <a:t>D45 POC; HITL fallback at 50% auto; renegotiate earnouts if needed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0" y="1417320"/>
            <a:ext cx="278892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0" y="1417320"/>
            <a:ext cx="73152" cy="1207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490472"/>
            <a:ext cx="2514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Talent — AI lead hire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1874520"/>
            <a:ext cx="2514600" cy="7040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101010"/>
                </a:solidFill>
                <a:latin typeface="Calibri"/>
              </a:rPr>
              <a:t>Fractional advisor for 3–6 months; full-time by month 5; PL AI partner as backup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761488"/>
            <a:ext cx="278892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2761488"/>
            <a:ext cx="73152" cy="1207008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834640"/>
            <a:ext cx="2514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Seller earnout disputes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218688"/>
            <a:ext cx="2514600" cy="7040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101010"/>
                </a:solidFill>
                <a:latin typeface="Calibri"/>
              </a:rPr>
              <a:t>Tight revenue-retention definition + escrow + insurance-backed reps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2761488"/>
            <a:ext cx="278892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91840" y="2761488"/>
            <a:ext cx="73152" cy="1207008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0" y="2834640"/>
            <a:ext cx="2514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Currency PLN/EUR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18688"/>
            <a:ext cx="2514600" cy="7040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101010"/>
                </a:solidFill>
                <a:latin typeface="Calibri"/>
              </a:rPr>
              <a:t>EUR holdco + EUR debt = natural hedge; 25% PLN exposure forward-hedged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2761488"/>
            <a:ext cx="278892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2761488"/>
            <a:ext cx="73152" cy="1207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2834640"/>
            <a:ext cx="2514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Integration overruns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218688"/>
            <a:ext cx="2514600" cy="7040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101010"/>
                </a:solidFill>
                <a:latin typeface="Calibri"/>
              </a:rPr>
              <a:t>Strict D-30/90/180 playbook; max 2 concurrent integrations per Country MD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0" y="2761488"/>
            <a:ext cx="278892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44000" y="2761488"/>
            <a:ext cx="73152" cy="1207008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0" y="2834640"/>
            <a:ext cx="2514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Macro — EU recession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3218688"/>
            <a:ext cx="2514600" cy="7040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101010"/>
                </a:solidFill>
                <a:latin typeface="Calibri"/>
              </a:rPr>
              <a:t>Accounting is non-discretionary; 3–5% revenue impact even in deep recession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 i="1">
                <a:solidFill>
                  <a:srgbClr val="555555"/>
                </a:solidFill>
                <a:latin typeface="Calibri"/>
              </a:rPr>
              <a:t>Full 12-risk register with likelihood × impact scoring in strategic memo section 10.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Project Ledger — AI Accounting Roll-Up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ask  · 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€7M total equity over 9 months. €100M+ exit by FY30.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0847" y="1554480"/>
            <a:ext cx="36576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847" y="1554480"/>
            <a:ext cx="365760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847" y="1627632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47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000" b="1" i="0">
                <a:solidFill>
                  <a:srgbClr val="1F3A5F"/>
                </a:solidFill>
                <a:latin typeface="Calibri"/>
              </a:rPr>
              <a:t>€250k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847" y="2743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F3A5F"/>
                </a:solidFill>
                <a:latin typeface="Calibri"/>
              </a:rPr>
              <a:t>Founder + Angels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847" y="30175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  <a:latin typeface="Calibri"/>
              </a:rPr>
              <a:t>SAFE, post-money €5M cap, 20% discount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167" y="33832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 First 3 hires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 Polish target sourcing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 Cyprus holdco setup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 LEDGER-1 due diligence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67047" y="1554480"/>
            <a:ext cx="36576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7047" y="1554480"/>
            <a:ext cx="365760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7047" y="1627632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DAY 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67047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000" b="1" i="0">
                <a:solidFill>
                  <a:srgbClr val="1F3A5F"/>
                </a:solidFill>
                <a:latin typeface="Calibri"/>
              </a:rPr>
              <a:t>€750k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2743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F3A5F"/>
                </a:solidFill>
                <a:latin typeface="Calibri"/>
              </a:rPr>
              <a:t>Seed extension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047" y="30175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  <a:latin typeface="Calibri"/>
              </a:rPr>
              <a:t>€4.5M pre, priced round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367" y="33832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 LEDGER-1 close (€1.75M EV)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 Integration team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 AI overlay POC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 Series A readiness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53247" y="1554480"/>
            <a:ext cx="36576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247" y="1554480"/>
            <a:ext cx="365760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3247" y="1627632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MONTH 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3247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000" b="1" i="0">
                <a:solidFill>
                  <a:srgbClr val="1F3A5F"/>
                </a:solidFill>
                <a:latin typeface="Calibri"/>
              </a:rPr>
              <a:t>€6M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53247" y="2743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F3A5F"/>
                </a:solidFill>
                <a:latin typeface="Calibri"/>
              </a:rPr>
              <a:t>Series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247" y="30175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  <a:latin typeface="Calibri"/>
              </a:rPr>
              <a:t>€12M pre, lead + 1 follow-on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7567" y="33832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 LEDGER-2..-4 closes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 AI engineering team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 Italy market entry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01010"/>
                </a:solidFill>
                <a:latin typeface="Calibri"/>
              </a:rPr>
              <a:t>✓  Senior debt facility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983480"/>
            <a:ext cx="11247120" cy="10972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0749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NEXT 14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367528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1.  Sign first €100k commitment from founder + 3 angels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6692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2.  Cyprus law firm engaged; Ledger Holdings Limited incorporated by Day 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53796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1">
                <a:solidFill>
                  <a:srgbClr val="CCCCCC"/>
                </a:solidFill>
                <a:latin typeface="Calibri"/>
              </a:rPr>
              <a:t>Viktar Dzenisevich  ·  denwik86@gmail.com  ·  Project Ledger founder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